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3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09160"/>
            <a:ext cx="12191695" cy="54864"/>
          </a:xfrm>
          <a:prstGeom prst="rect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基于 EfficientDet 的视障环境感知辅助 App 的设计与实现</a:t>
            </a:r>
            <a:endParaRPr sz="2800" b="1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4A5362"/>
                </a:solidFill>
                <a:latin typeface="微软雅黑" panose="020B0503020204020204" charset="-122"/>
                <a:ea typeface="微软雅黑" panose="020B0503020204020204" charset="-122"/>
              </a:rPr>
              <a:t>「看见」——视障步行障碍预警系统</a:t>
            </a:r>
            <a:endParaRPr sz="1700" b="0">
              <a:solidFill>
                <a:srgbClr val="4A536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194560" y="3200400"/>
            <a:ext cx="7772400" cy="1325880"/>
          </a:xfrm>
          <a:prstGeom prst="roundRect">
            <a:avLst>
              <a:gd name="adj" fmla="val 8000"/>
            </a:avLst>
          </a:prstGeom>
          <a:solidFill>
            <a:srgbClr val="2A3655"/>
          </a:solidFill>
          <a:ln w="15240">
            <a:solidFill>
              <a:srgbClr val="D5DC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7"/>
          <p:cNvSpPr txBox="1"/>
          <p:nvPr/>
        </p:nvSpPr>
        <p:spPr>
          <a:xfrm>
            <a:off x="731520" y="5943600"/>
            <a:ext cx="1069975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2228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姓名：</a:t>
            </a:r>
            <a:r>
              <a:rPr lang="zh-CN" sz="1500" b="0">
                <a:solidFill>
                  <a:srgbClr val="2228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张明星</a:t>
            </a:r>
            <a:r>
              <a:rPr sz="1500" b="0">
                <a:solidFill>
                  <a:srgbClr val="2228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　学号：231101344　班级：</a:t>
            </a:r>
            <a:r>
              <a:rPr lang="en-US" sz="1500" b="0">
                <a:solidFill>
                  <a:srgbClr val="2228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zh-CN" sz="1500" b="0">
                <a:solidFill>
                  <a:srgbClr val="2228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计算机科学与技术</a:t>
            </a:r>
            <a:r>
              <a:rPr lang="en-US" sz="1500" b="0">
                <a:solidFill>
                  <a:srgbClr val="2228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2303</a:t>
            </a:r>
            <a:r>
              <a:rPr lang="zh-CN" sz="1500" b="0">
                <a:solidFill>
                  <a:srgbClr val="2228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班</a:t>
            </a:r>
            <a:r>
              <a:rPr sz="1500" b="0">
                <a:solidFill>
                  <a:srgbClr val="22283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endParaRPr sz="1500" b="0">
              <a:solidFill>
                <a:srgbClr val="22283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8" name="Picture 10" descr="78df27b5b7644448bc7a102cf62155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331720"/>
            <a:ext cx="1482809" cy="3291839"/>
          </a:xfrm>
          <a:prstGeom prst="rect">
            <a:avLst/>
          </a:prstGeom>
          <a:ln w="12700">
            <a:solidFill>
              <a:srgbClr val="D5DCE8"/>
            </a:solidFill>
          </a:ln>
        </p:spPr>
      </p:pic>
      <p:pic>
        <p:nvPicPr>
          <p:cNvPr id="9" name="c3923f3e8fc55f07aaad95a08246226d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877996" y="1417320"/>
            <a:ext cx="2606723" cy="5120640"/>
          </a:xfrm>
          <a:prstGeom prst="rect">
            <a:avLst/>
          </a:prstGeom>
        </p:spPr>
      </p:pic>
      <p:pic>
        <p:nvPicPr>
          <p:cNvPr id="10" name="Picture 12" descr="dbff1fd68d68d3d8813e8073ab5f63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7285" y="2331720"/>
            <a:ext cx="1482810" cy="3291840"/>
          </a:xfrm>
          <a:prstGeom prst="rect">
            <a:avLst/>
          </a:prstGeom>
          <a:ln w="12700">
            <a:solidFill>
              <a:srgbClr val="D5DCE8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3"/>
          <p:cNvSpPr txBox="1"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项目背景与需求</a:t>
            </a:r>
            <a:endParaRPr sz="30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4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5"/>
          <p:cNvSpPr/>
          <p:nvPr/>
        </p:nvSpPr>
        <p:spPr>
          <a:xfrm>
            <a:off x="640080" y="1554480"/>
            <a:ext cx="34290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6"/>
          <p:cNvSpPr/>
          <p:nvPr/>
        </p:nvSpPr>
        <p:spPr>
          <a:xfrm>
            <a:off x="640080" y="1554480"/>
            <a:ext cx="3429000" cy="109728"/>
          </a:xfrm>
          <a:prstGeom prst="rect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7"/>
          <p:cNvSpPr txBox="1"/>
          <p:nvPr/>
        </p:nvSpPr>
        <p:spPr>
          <a:xfrm>
            <a:off x="914400" y="1874519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出行难</a:t>
            </a:r>
            <a:endParaRPr sz="20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8"/>
          <p:cNvSpPr txBox="1"/>
          <p:nvPr/>
        </p:nvSpPr>
        <p:spPr>
          <a:xfrm>
            <a:off x="914400" y="246888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盲道常被护栏、共享单车、台阶、交通锥占用，视障人士户外出行步步惊心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9"/>
          <p:cNvSpPr/>
          <p:nvPr/>
        </p:nvSpPr>
        <p:spPr>
          <a:xfrm>
            <a:off x="4434840" y="1554480"/>
            <a:ext cx="34290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10"/>
          <p:cNvSpPr/>
          <p:nvPr/>
        </p:nvSpPr>
        <p:spPr>
          <a:xfrm>
            <a:off x="4434840" y="1554480"/>
            <a:ext cx="3429000" cy="109728"/>
          </a:xfrm>
          <a:prstGeom prst="rect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11"/>
          <p:cNvSpPr txBox="1"/>
          <p:nvPr/>
        </p:nvSpPr>
        <p:spPr>
          <a:xfrm>
            <a:off x="4709160" y="1874519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探测盲区</a:t>
            </a:r>
            <a:endParaRPr sz="20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12"/>
          <p:cNvSpPr txBox="1"/>
          <p:nvPr/>
        </p:nvSpPr>
        <p:spPr>
          <a:xfrm>
            <a:off x="4709160" y="246888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传统导盲杖只能探到地面附近，范围小、无法预知中远距离障碍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13"/>
          <p:cNvSpPr/>
          <p:nvPr/>
        </p:nvSpPr>
        <p:spPr>
          <a:xfrm>
            <a:off x="8229600" y="1554480"/>
            <a:ext cx="34290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14"/>
          <p:cNvSpPr/>
          <p:nvPr/>
        </p:nvSpPr>
        <p:spPr>
          <a:xfrm>
            <a:off x="8229600" y="1554480"/>
            <a:ext cx="3429000" cy="109728"/>
          </a:xfrm>
          <a:prstGeom prst="rect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15"/>
          <p:cNvSpPr txBox="1"/>
          <p:nvPr/>
        </p:nvSpPr>
        <p:spPr>
          <a:xfrm>
            <a:off x="8503920" y="1874519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离线需求</a:t>
            </a:r>
            <a:endParaRPr sz="20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16"/>
          <p:cNvSpPr txBox="1"/>
          <p:nvPr/>
        </p:nvSpPr>
        <p:spPr>
          <a:xfrm>
            <a:off x="8503920" y="246888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真实出行场景未必有网，识别必须离线可用、响应快、保护隐私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17"/>
          <p:cNvSpPr txBox="1"/>
          <p:nvPr/>
        </p:nvSpPr>
        <p:spPr>
          <a:xfrm>
            <a:off x="640080" y="40690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E5EAA"/>
                </a:solidFill>
                <a:latin typeface="微软雅黑" panose="020B0503020204020204" charset="-122"/>
                <a:ea typeface="微软雅黑" panose="020B0503020204020204" charset="-122"/>
              </a:rPr>
              <a:t>核心需求</a:t>
            </a:r>
            <a:endParaRPr sz="1800" b="1">
              <a:solidFill>
                <a:srgbClr val="2E5E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18"/>
          <p:cNvSpPr txBox="1"/>
          <p:nvPr/>
        </p:nvSpPr>
        <p:spPr>
          <a:xfrm>
            <a:off x="640080" y="4526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实时识别前方障碍物，语音播报距离与方位，无网络也能用</a:t>
            </a:r>
            <a:endParaRPr sz="15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19"/>
          <p:cNvSpPr/>
          <p:nvPr/>
        </p:nvSpPr>
        <p:spPr>
          <a:xfrm>
            <a:off x="640080" y="5257800"/>
            <a:ext cx="10972800" cy="868680"/>
          </a:xfrm>
          <a:prstGeom prst="roundRect">
            <a:avLst>
              <a:gd name="adj" fmla="val 12000"/>
            </a:avLst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20"/>
          <p:cNvSpPr txBox="1"/>
          <p:nvPr/>
        </p:nvSpPr>
        <p:spPr>
          <a:xfrm>
            <a:off x="1005840" y="5468112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一句话方案：手机摄像头 + AI 目标检测 + 语音播报，零额外硬件成本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"/>
          <p:cNvSpPr txBox="1"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系统总体设计</a:t>
            </a:r>
            <a:endParaRPr sz="30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4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5"/>
          <p:cNvSpPr txBox="1"/>
          <p:nvPr/>
        </p:nvSpPr>
        <p:spPr>
          <a:xfrm>
            <a:off x="640080" y="137160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5EAA"/>
                </a:solidFill>
                <a:latin typeface="微软雅黑" panose="020B0503020204020204" charset="-122"/>
                <a:ea typeface="微软雅黑" panose="020B0503020204020204" charset="-122"/>
              </a:rPr>
              <a:t>技术架构</a:t>
            </a:r>
            <a:endParaRPr sz="1700" b="1">
              <a:solidFill>
                <a:srgbClr val="2E5E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6"/>
          <p:cNvSpPr/>
          <p:nvPr/>
        </p:nvSpPr>
        <p:spPr>
          <a:xfrm>
            <a:off x="640080" y="1828800"/>
            <a:ext cx="42062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7"/>
          <p:cNvSpPr txBox="1"/>
          <p:nvPr/>
        </p:nvSpPr>
        <p:spPr>
          <a:xfrm>
            <a:off x="868680" y="19202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CameraX 相机采集</a:t>
            </a:r>
            <a:endParaRPr sz="14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8"/>
          <p:cNvSpPr txBox="1"/>
          <p:nvPr/>
        </p:nvSpPr>
        <p:spPr>
          <a:xfrm>
            <a:off x="868680" y="2258568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实时取景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Down Arrow 9"/>
          <p:cNvSpPr/>
          <p:nvPr/>
        </p:nvSpPr>
        <p:spPr>
          <a:xfrm>
            <a:off x="2606040" y="2583180"/>
            <a:ext cx="274320" cy="118872"/>
          </a:xfrm>
          <a:prstGeom prst="downArrow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10"/>
          <p:cNvSpPr/>
          <p:nvPr/>
        </p:nvSpPr>
        <p:spPr>
          <a:xfrm>
            <a:off x="640080" y="2706624"/>
            <a:ext cx="42062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11"/>
          <p:cNvSpPr txBox="1"/>
          <p:nvPr/>
        </p:nvSpPr>
        <p:spPr>
          <a:xfrm>
            <a:off x="868680" y="279806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EfficientDet-Lite 离线检测</a:t>
            </a:r>
            <a:endParaRPr sz="14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12"/>
          <p:cNvSpPr txBox="1"/>
          <p:nvPr/>
        </p:nvSpPr>
        <p:spPr>
          <a:xfrm>
            <a:off x="868680" y="3136392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COCO 目标识别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Down Arrow 13"/>
          <p:cNvSpPr/>
          <p:nvPr/>
        </p:nvSpPr>
        <p:spPr>
          <a:xfrm>
            <a:off x="2606040" y="3461004"/>
            <a:ext cx="274320" cy="118872"/>
          </a:xfrm>
          <a:prstGeom prst="downArrow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14"/>
          <p:cNvSpPr/>
          <p:nvPr/>
        </p:nvSpPr>
        <p:spPr>
          <a:xfrm>
            <a:off x="640080" y="3584448"/>
            <a:ext cx="42062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15"/>
          <p:cNvSpPr txBox="1"/>
          <p:nvPr/>
        </p:nvSpPr>
        <p:spPr>
          <a:xfrm>
            <a:off x="868680" y="367588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单目测距 + 方位判断</a:t>
            </a:r>
            <a:endParaRPr sz="14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16"/>
          <p:cNvSpPr txBox="1"/>
          <p:nvPr/>
        </p:nvSpPr>
        <p:spPr>
          <a:xfrm>
            <a:off x="868680" y="4014216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左前 / 正前 / 右前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Down Arrow 17"/>
          <p:cNvSpPr/>
          <p:nvPr/>
        </p:nvSpPr>
        <p:spPr>
          <a:xfrm>
            <a:off x="2606040" y="4338828"/>
            <a:ext cx="274320" cy="118872"/>
          </a:xfrm>
          <a:prstGeom prst="downArrow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18"/>
          <p:cNvSpPr/>
          <p:nvPr/>
        </p:nvSpPr>
        <p:spPr>
          <a:xfrm>
            <a:off x="640080" y="4462272"/>
            <a:ext cx="42062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19"/>
          <p:cNvSpPr txBox="1"/>
          <p:nvPr/>
        </p:nvSpPr>
        <p:spPr>
          <a:xfrm>
            <a:off x="868680" y="45537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分级预警</a:t>
            </a:r>
            <a:endParaRPr sz="14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20"/>
          <p:cNvSpPr txBox="1"/>
          <p:nvPr/>
        </p:nvSpPr>
        <p:spPr>
          <a:xfrm>
            <a:off x="868680" y="489204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0.5m 内「小心」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Down Arrow 21"/>
          <p:cNvSpPr/>
          <p:nvPr/>
        </p:nvSpPr>
        <p:spPr>
          <a:xfrm>
            <a:off x="2606040" y="5216652"/>
            <a:ext cx="274320" cy="118872"/>
          </a:xfrm>
          <a:prstGeom prst="downArrow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22"/>
          <p:cNvSpPr/>
          <p:nvPr/>
        </p:nvSpPr>
        <p:spPr>
          <a:xfrm>
            <a:off x="640080" y="5340096"/>
            <a:ext cx="42062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23"/>
          <p:cNvSpPr txBox="1"/>
          <p:nvPr/>
        </p:nvSpPr>
        <p:spPr>
          <a:xfrm>
            <a:off x="868680" y="543153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TTS 语音播报 + 字幕</a:t>
            </a:r>
            <a:endParaRPr sz="14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24"/>
          <p:cNvSpPr txBox="1"/>
          <p:nvPr/>
        </p:nvSpPr>
        <p:spPr>
          <a:xfrm>
            <a:off x="868680" y="5769864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语音优先交互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25"/>
          <p:cNvSpPr txBox="1"/>
          <p:nvPr/>
        </p:nvSpPr>
        <p:spPr>
          <a:xfrm>
            <a:off x="5394960" y="1371600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5EAA"/>
                </a:solidFill>
                <a:latin typeface="微软雅黑" panose="020B0503020204020204" charset="-122"/>
                <a:ea typeface="微软雅黑" panose="020B0503020204020204" charset="-122"/>
              </a:rPr>
              <a:t>双模式设计</a:t>
            </a:r>
            <a:endParaRPr sz="1700" b="1">
              <a:solidFill>
                <a:srgbClr val="2E5E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ounded Rectangle 26"/>
          <p:cNvSpPr/>
          <p:nvPr/>
        </p:nvSpPr>
        <p:spPr>
          <a:xfrm>
            <a:off x="5394960" y="1874520"/>
            <a:ext cx="2926080" cy="201104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27"/>
          <p:cNvSpPr/>
          <p:nvPr/>
        </p:nvSpPr>
        <p:spPr>
          <a:xfrm>
            <a:off x="5394960" y="1874519"/>
            <a:ext cx="2926080" cy="4572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28"/>
          <p:cNvSpPr txBox="1"/>
          <p:nvPr/>
        </p:nvSpPr>
        <p:spPr>
          <a:xfrm>
            <a:off x="5577840" y="19568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离线检测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29"/>
          <p:cNvSpPr txBox="1"/>
          <p:nvPr/>
        </p:nvSpPr>
        <p:spPr>
          <a:xfrm>
            <a:off x="5623560" y="2468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· 无网保底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30"/>
          <p:cNvSpPr txBox="1"/>
          <p:nvPr/>
        </p:nvSpPr>
        <p:spPr>
          <a:xfrm>
            <a:off x="5623560" y="2971800"/>
            <a:ext cx="2468880" cy="354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· 保护隐私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31"/>
          <p:cNvSpPr txBox="1"/>
          <p:nvPr/>
        </p:nvSpPr>
        <p:spPr>
          <a:xfrm>
            <a:off x="5623560" y="34747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· 响应快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Rounded Rectangle 32"/>
          <p:cNvSpPr/>
          <p:nvPr/>
        </p:nvSpPr>
        <p:spPr>
          <a:xfrm>
            <a:off x="8595360" y="1874520"/>
            <a:ext cx="2926080" cy="20129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33"/>
          <p:cNvSpPr/>
          <p:nvPr/>
        </p:nvSpPr>
        <p:spPr>
          <a:xfrm>
            <a:off x="8595360" y="1874519"/>
            <a:ext cx="2926080" cy="457200"/>
          </a:xfrm>
          <a:prstGeom prst="rect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34"/>
          <p:cNvSpPr txBox="1"/>
          <p:nvPr/>
        </p:nvSpPr>
        <p:spPr>
          <a:xfrm>
            <a:off x="8778240" y="195681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联网增强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35"/>
          <p:cNvSpPr txBox="1"/>
          <p:nvPr/>
        </p:nvSpPr>
        <p:spPr>
          <a:xfrm>
            <a:off x="8823960" y="24688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· Qwen3-VL 多模态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36"/>
          <p:cNvSpPr txBox="1"/>
          <p:nvPr/>
        </p:nvSpPr>
        <p:spPr>
          <a:xfrm>
            <a:off x="8823960" y="29718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· 识别护栏/交通锥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37"/>
          <p:cNvSpPr txBox="1"/>
          <p:nvPr/>
        </p:nvSpPr>
        <p:spPr>
          <a:xfrm>
            <a:off x="8823960" y="347472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· 网络自动切换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Box 38"/>
          <p:cNvSpPr txBox="1"/>
          <p:nvPr/>
        </p:nvSpPr>
        <p:spPr>
          <a:xfrm>
            <a:off x="5394960" y="3923030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E5EAA"/>
                </a:solidFill>
                <a:latin typeface="微软雅黑" panose="020B0503020204020204" charset="-122"/>
                <a:ea typeface="微软雅黑" panose="020B0503020204020204" charset="-122"/>
              </a:rPr>
              <a:t>技术栈</a:t>
            </a:r>
            <a:endParaRPr sz="1700" b="1">
              <a:solidFill>
                <a:srgbClr val="2E5EA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39"/>
          <p:cNvSpPr txBox="1"/>
          <p:nvPr/>
        </p:nvSpPr>
        <p:spPr>
          <a:xfrm>
            <a:off x="5387975" y="4206240"/>
            <a:ext cx="6538595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Kotlin · CameraX · TensorFlow Lite · 讯飞离线语音 · Android TTS · 多模态大模型 API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7975" y="4553585"/>
            <a:ext cx="2599690" cy="60579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975" y="5335270"/>
            <a:ext cx="2731770" cy="5676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275" y="5356225"/>
            <a:ext cx="2914650" cy="733425"/>
          </a:xfrm>
          <a:prstGeom prst="rect">
            <a:avLst/>
          </a:prstGeom>
        </p:spPr>
      </p:pic>
      <p:pic>
        <p:nvPicPr>
          <p:cNvPr id="1" name="图片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065" y="4553585"/>
            <a:ext cx="3127375" cy="746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3"/>
          <p:cNvSpPr txBox="1"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核心功能展示</a:t>
            </a:r>
            <a:endParaRPr sz="30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4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ounded Rectangle 5"/>
          <p:cNvSpPr/>
          <p:nvPr/>
        </p:nvSpPr>
        <p:spPr>
          <a:xfrm>
            <a:off x="640080" y="1554480"/>
            <a:ext cx="516636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6"/>
          <p:cNvSpPr/>
          <p:nvPr/>
        </p:nvSpPr>
        <p:spPr>
          <a:xfrm>
            <a:off x="640080" y="1554480"/>
            <a:ext cx="128016" cy="178308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"/>
          <p:cNvSpPr txBox="1"/>
          <p:nvPr/>
        </p:nvSpPr>
        <p:spPr>
          <a:xfrm>
            <a:off x="1005840" y="17830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实时检测预警</a:t>
            </a:r>
            <a:endParaRPr sz="18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8"/>
          <p:cNvSpPr txBox="1"/>
          <p:nvPr/>
        </p:nvSpPr>
        <p:spPr>
          <a:xfrm>
            <a:off x="1005840" y="233172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距离 / 方位 / 分级提示；0.5 米内「小心」、2 米内「请绕行」；5 秒冷却防刷屏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ounded Rectangle 9"/>
          <p:cNvSpPr/>
          <p:nvPr/>
        </p:nvSpPr>
        <p:spPr>
          <a:xfrm>
            <a:off x="6355080" y="1554480"/>
            <a:ext cx="516636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10"/>
          <p:cNvSpPr/>
          <p:nvPr/>
        </p:nvSpPr>
        <p:spPr>
          <a:xfrm>
            <a:off x="6355080" y="1554480"/>
            <a:ext cx="128016" cy="1783080"/>
          </a:xfrm>
          <a:prstGeom prst="rect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11"/>
          <p:cNvSpPr txBox="1"/>
          <p:nvPr/>
        </p:nvSpPr>
        <p:spPr>
          <a:xfrm>
            <a:off x="6720840" y="17830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语音控制</a:t>
            </a:r>
            <a:endParaRPr sz="18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12"/>
          <p:cNvSpPr txBox="1"/>
          <p:nvPr/>
        </p:nvSpPr>
        <p:spPr>
          <a:xfrm>
            <a:off x="6720840" y="233172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说「找杯子 / 找椅子」自动寻物；支持「停止识别 / 退出」等命令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ounded Rectangle 13"/>
          <p:cNvSpPr/>
          <p:nvPr/>
        </p:nvSpPr>
        <p:spPr>
          <a:xfrm>
            <a:off x="640080" y="3611880"/>
            <a:ext cx="516636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14"/>
          <p:cNvSpPr/>
          <p:nvPr/>
        </p:nvSpPr>
        <p:spPr>
          <a:xfrm>
            <a:off x="640080" y="3611880"/>
            <a:ext cx="128016" cy="1783080"/>
          </a:xfrm>
          <a:prstGeom prst="rect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15"/>
          <p:cNvSpPr txBox="1"/>
          <p:nvPr/>
        </p:nvSpPr>
        <p:spPr>
          <a:xfrm>
            <a:off x="1005840" y="38404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联网增强</a:t>
            </a:r>
            <a:endParaRPr sz="18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16"/>
          <p:cNvSpPr txBox="1"/>
          <p:nvPr/>
        </p:nvSpPr>
        <p:spPr>
          <a:xfrm>
            <a:off x="1005840" y="438912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识别护栏、交通锥等离线模型不认识的障碍；断网自动降级为纯本地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17"/>
          <p:cNvSpPr/>
          <p:nvPr/>
        </p:nvSpPr>
        <p:spPr>
          <a:xfrm>
            <a:off x="6355080" y="3611880"/>
            <a:ext cx="516636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18"/>
          <p:cNvSpPr/>
          <p:nvPr/>
        </p:nvSpPr>
        <p:spPr>
          <a:xfrm>
            <a:off x="6355080" y="3611880"/>
            <a:ext cx="128016" cy="1783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19"/>
          <p:cNvSpPr txBox="1"/>
          <p:nvPr/>
        </p:nvSpPr>
        <p:spPr>
          <a:xfrm>
            <a:off x="6720840" y="384048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无障碍设计</a:t>
            </a:r>
            <a:endParaRPr sz="18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20"/>
          <p:cNvSpPr txBox="1"/>
          <p:nvPr/>
        </p:nvSpPr>
        <p:spPr>
          <a:xfrm>
            <a:off x="6720840" y="4389120"/>
            <a:ext cx="4480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语音 + 字幕双通道；锁竖屏；打开即用，无需精确触摸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21"/>
          <p:cNvSpPr txBox="1"/>
          <p:nvPr/>
        </p:nvSpPr>
        <p:spPr>
          <a:xfrm>
            <a:off x="640080" y="5623560"/>
            <a:ext cx="109728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 sz="12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3"/>
          <p:cNvSpPr txBox="1"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30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4"/>
          <p:cNvSpPr txBox="1"/>
          <p:nvPr/>
        </p:nvSpPr>
        <p:spPr>
          <a:xfrm>
            <a:off x="11338560" y="63550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ounded Rectangle 5"/>
          <p:cNvSpPr/>
          <p:nvPr/>
        </p:nvSpPr>
        <p:spPr>
          <a:xfrm>
            <a:off x="640080" y="146304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6"/>
          <p:cNvSpPr/>
          <p:nvPr/>
        </p:nvSpPr>
        <p:spPr>
          <a:xfrm>
            <a:off x="640080" y="1463040"/>
            <a:ext cx="3520440" cy="45720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7"/>
          <p:cNvSpPr txBox="1"/>
          <p:nvPr/>
        </p:nvSpPr>
        <p:spPr>
          <a:xfrm>
            <a:off x="914400" y="15544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8"/>
          <p:cNvSpPr txBox="1"/>
          <p:nvPr/>
        </p:nvSpPr>
        <p:spPr>
          <a:xfrm>
            <a:off x="914400" y="21488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• 实时目标检测、距离估算、语音控制</a:t>
            </a:r>
            <a:endParaRPr sz="125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9"/>
          <p:cNvSpPr txBox="1"/>
          <p:nvPr/>
        </p:nvSpPr>
        <p:spPr>
          <a:xfrm>
            <a:off x="914400" y="27889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• 离线 + 联网双模式，并完成真机实测</a:t>
            </a:r>
            <a:endParaRPr sz="125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ounded Rectangle 10"/>
          <p:cNvSpPr/>
          <p:nvPr/>
        </p:nvSpPr>
        <p:spPr>
          <a:xfrm>
            <a:off x="4526280" y="146304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1"/>
          <p:cNvSpPr/>
          <p:nvPr/>
        </p:nvSpPr>
        <p:spPr>
          <a:xfrm>
            <a:off x="4526280" y="1463040"/>
            <a:ext cx="3520440" cy="457200"/>
          </a:xfrm>
          <a:prstGeom prst="rect">
            <a:avLst/>
          </a:prstGeom>
          <a:solidFill>
            <a:srgbClr val="2FB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2"/>
          <p:cNvSpPr txBox="1"/>
          <p:nvPr/>
        </p:nvSpPr>
        <p:spPr>
          <a:xfrm>
            <a:off x="4800600" y="15544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创新点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13"/>
          <p:cNvSpPr txBox="1"/>
          <p:nvPr/>
        </p:nvSpPr>
        <p:spPr>
          <a:xfrm>
            <a:off x="4800600" y="214884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• 离线与联网自动切换，兼顾隐私与识别范围</a:t>
            </a:r>
            <a:endParaRPr sz="125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4"/>
          <p:cNvSpPr txBox="1"/>
          <p:nvPr/>
        </p:nvSpPr>
        <p:spPr>
          <a:xfrm>
            <a:off x="4800600" y="27889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• 纯语音交互、零硬件成本，适合视障用户日常使用</a:t>
            </a:r>
            <a:endParaRPr sz="125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Rounded Rectangle 15"/>
          <p:cNvSpPr/>
          <p:nvPr/>
        </p:nvSpPr>
        <p:spPr>
          <a:xfrm>
            <a:off x="640080" y="3977639"/>
            <a:ext cx="10972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6"/>
          <p:cNvSpPr/>
          <p:nvPr/>
        </p:nvSpPr>
        <p:spPr>
          <a:xfrm>
            <a:off x="640080" y="3977639"/>
            <a:ext cx="128016" cy="2103120"/>
          </a:xfrm>
          <a:prstGeom prst="rect">
            <a:avLst/>
          </a:prstGeom>
          <a:solidFill>
            <a:srgbClr val="E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7"/>
          <p:cNvSpPr txBox="1"/>
          <p:nvPr/>
        </p:nvSpPr>
        <p:spPr>
          <a:xfrm>
            <a:off x="1005840" y="41605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A44"/>
                </a:solidFill>
                <a:latin typeface="微软雅黑" panose="020B0503020204020204" charset="-122"/>
                <a:ea typeface="微软雅黑" panose="020B0503020204020204" charset="-122"/>
              </a:rPr>
              <a:t>不足与展望</a:t>
            </a:r>
            <a:endParaRPr sz="1700" b="1">
              <a:solidFill>
                <a:srgbClr val="1F2A4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TextBox 18"/>
          <p:cNvSpPr txBox="1"/>
          <p:nvPr/>
        </p:nvSpPr>
        <p:spPr>
          <a:xfrm>
            <a:off x="1005840" y="466344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• COCO 模型缺少树干、护栏杆、电动滑板车等类别 → 后续优化后处理或自训模型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TextBox 19"/>
          <p:cNvSpPr txBox="1"/>
          <p:nvPr/>
        </p:nvSpPr>
        <p:spPr>
          <a:xfrm>
            <a:off x="1005840" y="530352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22833"/>
                </a:solidFill>
                <a:latin typeface="微软雅黑" panose="020B0503020204020204" charset="-122"/>
                <a:ea typeface="微软雅黑" panose="020B0503020204020204" charset="-122"/>
              </a:rPr>
              <a:t>• 可接入 GPS 导航，实现「导航 + 避障」一体化</a:t>
            </a:r>
            <a:endParaRPr sz="1300" b="0">
              <a:solidFill>
                <a:srgbClr val="2228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WPS 演示</Application>
  <PresentationFormat/>
  <Paragraphs>118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柳飄絮</cp:lastModifiedBy>
  <cp:revision>2</cp:revision>
  <dcterms:created xsi:type="dcterms:W3CDTF">2026-10-14T14:02:00Z</dcterms:created>
  <dcterms:modified xsi:type="dcterms:W3CDTF">2026-10-14T14:08:40Z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21EAC78C0011435691D1C299ABD19692_12</vt:lpwstr>
  </property>
  <property fmtid="{D5CDD505-2E9C-101B-9397-08002B2CF9AE}" pid="3" name="KSOProductBuildVer">
    <vt:lpwstr>2052-12.1.0.21915</vt:lpwstr>
  </property>
</Properties>
</file>